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Press Start 2P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cPEjJZd6A5stS8u2P/aNyK1MW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PressStart2P-regular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5989667"/>
          </a:xfrm>
          <a:custGeom>
            <a:rect b="b" l="l" r="r" t="t"/>
            <a:pathLst>
              <a:path extrusionOk="0" h="5989667" w="18288000">
                <a:moveTo>
                  <a:pt x="0" y="0"/>
                </a:moveTo>
                <a:lnTo>
                  <a:pt x="18288000" y="0"/>
                </a:lnTo>
                <a:lnTo>
                  <a:pt x="18288000" y="5989667"/>
                </a:lnTo>
                <a:lnTo>
                  <a:pt x="0" y="5989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1074" l="0" r="-200" t="-31074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7196626" y="842583"/>
            <a:ext cx="4750561" cy="4293776"/>
          </a:xfrm>
          <a:custGeom>
            <a:rect b="b" l="l" r="r" t="t"/>
            <a:pathLst>
              <a:path extrusionOk="0" h="4293776" w="4750561">
                <a:moveTo>
                  <a:pt x="0" y="0"/>
                </a:moveTo>
                <a:lnTo>
                  <a:pt x="4750561" y="0"/>
                </a:lnTo>
                <a:lnTo>
                  <a:pt x="4750561" y="4293777"/>
                </a:lnTo>
                <a:lnTo>
                  <a:pt x="0" y="4293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3842818" y="418235"/>
            <a:ext cx="3971925" cy="800100"/>
          </a:xfrm>
          <a:custGeom>
            <a:rect b="b" l="l" r="r" t="t"/>
            <a:pathLst>
              <a:path extrusionOk="0" h="800100" w="3971925">
                <a:moveTo>
                  <a:pt x="0" y="0"/>
                </a:moveTo>
                <a:lnTo>
                  <a:pt x="3971925" y="0"/>
                </a:lnTo>
                <a:lnTo>
                  <a:pt x="3971925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479455" y="418235"/>
            <a:ext cx="5537200" cy="800100"/>
          </a:xfrm>
          <a:custGeom>
            <a:rect b="b" l="l" r="r" t="t"/>
            <a:pathLst>
              <a:path extrusionOk="0" h="800100" w="5537200">
                <a:moveTo>
                  <a:pt x="0" y="0"/>
                </a:moveTo>
                <a:lnTo>
                  <a:pt x="5537200" y="0"/>
                </a:lnTo>
                <a:lnTo>
                  <a:pt x="55372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773369" y="6158412"/>
            <a:ext cx="43614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  <a:r>
              <a:rPr b="0" i="0" lang="en-US" sz="6868" u="none" cap="none" strike="noStrike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Team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247850" y="7161525"/>
            <a:ext cx="74472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36003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endParaRPr sz="4800"/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Sahay</a:t>
            </a:r>
          </a:p>
          <a:p>
            <a:pPr indent="-536003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endParaRPr sz="4800"/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 1  —  Role</a:t>
            </a:r>
          </a:p>
          <a:p>
            <a:pPr indent="-536003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endParaRPr sz="4800"/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 2  —  Role</a:t>
            </a:r>
          </a:p>
          <a:p>
            <a:pPr indent="-536003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endParaRPr sz="4800"/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 3  —  Role</a:t>
            </a:r>
          </a:p>
          <a:p>
            <a:pPr indent="-536003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endParaRPr sz="4800"/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 4  —  Role</a:t>
            </a:r>
          </a:p>
        </p:txBody>
      </p:sp>
      <p:grpSp>
        <p:nvGrpSpPr>
          <p:cNvPr id="90" name="Google Shape;90;p1"/>
          <p:cNvGrpSpPr/>
          <p:nvPr/>
        </p:nvGrpSpPr>
        <p:grpSpPr>
          <a:xfrm>
            <a:off x="0" y="9975552"/>
            <a:ext cx="18306453" cy="311448"/>
            <a:chOff x="0" y="-38100"/>
            <a:chExt cx="4821421" cy="82027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4821421" cy="43927"/>
            </a:xfrm>
            <a:custGeom>
              <a:rect b="b" l="l" r="r" t="t"/>
              <a:pathLst>
                <a:path extrusionOk="0" h="43927" w="4821421">
                  <a:moveTo>
                    <a:pt x="0" y="0"/>
                  </a:moveTo>
                  <a:lnTo>
                    <a:pt x="4821421" y="0"/>
                  </a:lnTo>
                  <a:lnTo>
                    <a:pt x="4821421" y="43927"/>
                  </a:lnTo>
                  <a:lnTo>
                    <a:pt x="0" y="43927"/>
                  </a:lnTo>
                  <a:close/>
                </a:path>
              </a:pathLst>
            </a:custGeom>
            <a:solidFill>
              <a:srgbClr val="526B32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4821421" cy="8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86425" y="2013845"/>
            <a:ext cx="162306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  <a:r>
              <a:rPr b="0" i="0" lang="en-US" sz="5029" u="none" cap="none" strike="noStrike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Problem Statement &amp; Theme</a:t>
            </a:r>
          </a:p>
        </p:txBody>
      </p:sp>
      <p:sp>
        <p:nvSpPr>
          <p:cNvPr id="98" name="Google Shape;98;p2"/>
          <p:cNvSpPr txBox="1"/>
          <p:nvPr/>
        </p:nvSpPr>
        <p:spPr>
          <a:xfrm>
            <a:off x="1399391" y="2996652"/>
            <a:ext cx="8553000" cy="4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61340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•"/>
            </a:pPr>
            <a:endParaRPr/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  India runs 3,000+ welfare schemes worth ₹15+ lakh crore — yet under 30% of eligible citizens ever claim them. Discovery is broken: portals are English-first, jargon-heavy, and scattered across 50+ ministry websites.</a:t>
            </a:r>
          </a:p>
          <a:p>
            <a:pPr indent="-561340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•"/>
            </a:pPr>
            <a:endParaRPr/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  ~800 million Bharat citizens — farmers, widows, gig workers, artisans, the elderly — leave entitled benefits on the table every year. A widow in UP doesn't know a ₹6,000/yr pension exists in her name.</a:t>
            </a:r>
          </a:p>
          <a:p>
            <a:pPr indent="-561340" lvl="1" marL="1122679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Char char="•"/>
            </a:pPr>
            <a:endParaRPr/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 Alignment:  AI for Social Good × Bharat-first. A multilingual, voice-enabled AI navigator that turns natural Hindi/Hinglish speech into a ranked list of schemes the user actually qualifies for.</a:t>
            </a: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51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t/>
            </a:r>
          </a:p>
        </p:txBody>
      </p:sp>
      <p:sp>
        <p:nvSpPr>
          <p:cNvPr id="99" name="Google Shape;99;p2"/>
          <p:cNvSpPr/>
          <p:nvPr/>
        </p:nvSpPr>
        <p:spPr>
          <a:xfrm>
            <a:off x="-18332" y="-1480484"/>
            <a:ext cx="19973883" cy="3111361"/>
          </a:xfrm>
          <a:custGeom>
            <a:rect b="b" l="l" r="r" t="t"/>
            <a:pathLst>
              <a:path extrusionOk="0" h="4148481" w="24432885">
                <a:moveTo>
                  <a:pt x="0" y="0"/>
                </a:moveTo>
                <a:lnTo>
                  <a:pt x="24432885" y="0"/>
                </a:lnTo>
                <a:lnTo>
                  <a:pt x="24432885" y="4148481"/>
                </a:lnTo>
                <a:lnTo>
                  <a:pt x="0" y="4148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2329" l="0" r="0" t="-5982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377327" y="195791"/>
            <a:ext cx="1141810" cy="1032020"/>
          </a:xfrm>
          <a:custGeom>
            <a:rect b="b" l="l" r="r" t="t"/>
            <a:pathLst>
              <a:path extrusionOk="0" h="1376027" w="1522413">
                <a:moveTo>
                  <a:pt x="0" y="0"/>
                </a:moveTo>
                <a:lnTo>
                  <a:pt x="1522413" y="0"/>
                </a:lnTo>
                <a:lnTo>
                  <a:pt x="1522413" y="1376027"/>
                </a:lnTo>
                <a:lnTo>
                  <a:pt x="0" y="1376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1" name="Google Shape;101;p2"/>
          <p:cNvCxnSpPr/>
          <p:nvPr/>
        </p:nvCxnSpPr>
        <p:spPr>
          <a:xfrm>
            <a:off x="15190575" y="472321"/>
            <a:ext cx="0" cy="479100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"/>
          <p:cNvSpPr/>
          <p:nvPr/>
        </p:nvSpPr>
        <p:spPr>
          <a:xfrm>
            <a:off x="15337274" y="439948"/>
            <a:ext cx="2699110" cy="543706"/>
          </a:xfrm>
          <a:custGeom>
            <a:rect b="b" l="l" r="r" t="t"/>
            <a:pathLst>
              <a:path extrusionOk="0" h="724941" w="3598813">
                <a:moveTo>
                  <a:pt x="0" y="0"/>
                </a:moveTo>
                <a:lnTo>
                  <a:pt x="3598813" y="0"/>
                </a:lnTo>
                <a:lnTo>
                  <a:pt x="3598813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1281088" y="439948"/>
            <a:ext cx="3762788" cy="543706"/>
          </a:xfrm>
          <a:custGeom>
            <a:rect b="b" l="l" r="r" t="t"/>
            <a:pathLst>
              <a:path extrusionOk="0" h="724941" w="5017050">
                <a:moveTo>
                  <a:pt x="0" y="0"/>
                </a:moveTo>
                <a:lnTo>
                  <a:pt x="5017050" y="0"/>
                </a:lnTo>
                <a:lnTo>
                  <a:pt x="5017050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-18332" y="-1480484"/>
            <a:ext cx="19973883" cy="3111361"/>
          </a:xfrm>
          <a:custGeom>
            <a:rect b="b" l="l" r="r" t="t"/>
            <a:pathLst>
              <a:path extrusionOk="0" h="4148481" w="24432885">
                <a:moveTo>
                  <a:pt x="0" y="0"/>
                </a:moveTo>
                <a:lnTo>
                  <a:pt x="24432885" y="0"/>
                </a:lnTo>
                <a:lnTo>
                  <a:pt x="24432885" y="4148481"/>
                </a:lnTo>
                <a:lnTo>
                  <a:pt x="0" y="4148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2329" l="0" r="0" t="-5982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377327" y="195791"/>
            <a:ext cx="1141810" cy="1032020"/>
          </a:xfrm>
          <a:custGeom>
            <a:rect b="b" l="l" r="r" t="t"/>
            <a:pathLst>
              <a:path extrusionOk="0" h="1376027" w="1522413">
                <a:moveTo>
                  <a:pt x="0" y="0"/>
                </a:moveTo>
                <a:lnTo>
                  <a:pt x="1522413" y="0"/>
                </a:lnTo>
                <a:lnTo>
                  <a:pt x="1522413" y="1376027"/>
                </a:lnTo>
                <a:lnTo>
                  <a:pt x="0" y="1376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0" name="Google Shape;110;p3"/>
          <p:cNvCxnSpPr/>
          <p:nvPr/>
        </p:nvCxnSpPr>
        <p:spPr>
          <a:xfrm>
            <a:off x="15190575" y="472321"/>
            <a:ext cx="0" cy="479025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15337274" y="439948"/>
            <a:ext cx="2699110" cy="543706"/>
          </a:xfrm>
          <a:custGeom>
            <a:rect b="b" l="l" r="r" t="t"/>
            <a:pathLst>
              <a:path extrusionOk="0" h="724941" w="3598813">
                <a:moveTo>
                  <a:pt x="0" y="0"/>
                </a:moveTo>
                <a:lnTo>
                  <a:pt x="3598813" y="0"/>
                </a:lnTo>
                <a:lnTo>
                  <a:pt x="3598813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/>
          <p:nvPr/>
        </p:nvSpPr>
        <p:spPr>
          <a:xfrm>
            <a:off x="11281088" y="439948"/>
            <a:ext cx="3762788" cy="543706"/>
          </a:xfrm>
          <a:custGeom>
            <a:rect b="b" l="l" r="r" t="t"/>
            <a:pathLst>
              <a:path extrusionOk="0" h="724941" w="5017050">
                <a:moveTo>
                  <a:pt x="0" y="0"/>
                </a:moveTo>
                <a:lnTo>
                  <a:pt x="5017050" y="0"/>
                </a:lnTo>
                <a:lnTo>
                  <a:pt x="5017050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3" name="Google Shape;113;p3"/>
          <p:cNvGrpSpPr/>
          <p:nvPr/>
        </p:nvGrpSpPr>
        <p:grpSpPr>
          <a:xfrm>
            <a:off x="0" y="9975553"/>
            <a:ext cx="18306333" cy="311446"/>
            <a:chOff x="0" y="-38100"/>
            <a:chExt cx="4821421" cy="82027"/>
          </a:xfrm>
        </p:grpSpPr>
        <p:sp>
          <p:nvSpPr>
            <p:cNvPr id="114" name="Google Shape;114;p3"/>
            <p:cNvSpPr/>
            <p:nvPr/>
          </p:nvSpPr>
          <p:spPr>
            <a:xfrm>
              <a:off x="0" y="0"/>
              <a:ext cx="4821421" cy="43927"/>
            </a:xfrm>
            <a:custGeom>
              <a:rect b="b" l="l" r="r" t="t"/>
              <a:pathLst>
                <a:path extrusionOk="0" h="43927" w="4821421">
                  <a:moveTo>
                    <a:pt x="0" y="0"/>
                  </a:moveTo>
                  <a:lnTo>
                    <a:pt x="4821421" y="0"/>
                  </a:lnTo>
                  <a:lnTo>
                    <a:pt x="4821421" y="43927"/>
                  </a:lnTo>
                  <a:lnTo>
                    <a:pt x="0" y="43927"/>
                  </a:lnTo>
                  <a:close/>
                </a:path>
              </a:pathLst>
            </a:custGeom>
            <a:solidFill>
              <a:srgbClr val="526B32"/>
            </a:solidFill>
            <a:ln>
              <a:noFill/>
            </a:ln>
          </p:spPr>
        </p:sp>
        <p:sp>
          <p:nvSpPr>
            <p:cNvPr id="115" name="Google Shape;115;p3"/>
            <p:cNvSpPr txBox="1"/>
            <p:nvPr/>
          </p:nvSpPr>
          <p:spPr>
            <a:xfrm>
              <a:off x="0" y="-38100"/>
              <a:ext cx="4821421" cy="8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750" lIns="74750" spcFirstLastPara="1" rIns="74750" wrap="square" tIns="74750">
              <a:noAutofit/>
            </a:bodyPr>
            <a:lstStyle/>
            <a:p>
              <a:pPr indent="0" lvl="0" marL="0" marR="0" rtl="0" algn="ctr">
                <a:lnSpc>
                  <a:spcPct val="14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3"/>
          <p:cNvSpPr txBox="1"/>
          <p:nvPr/>
        </p:nvSpPr>
        <p:spPr>
          <a:xfrm>
            <a:off x="-4483626" y="2004302"/>
            <a:ext cx="162306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  <a:r>
              <a:rPr b="0" i="0" lang="en-US" sz="5029" u="none" cap="none" strike="noStrike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Solution</a:t>
            </a:r>
          </a:p>
        </p:txBody>
      </p:sp>
      <p:sp>
        <p:nvSpPr>
          <p:cNvPr id="117" name="Google Shape;117;p3"/>
          <p:cNvSpPr txBox="1"/>
          <p:nvPr/>
        </p:nvSpPr>
        <p:spPr>
          <a:xfrm>
            <a:off x="1960755" y="1928102"/>
            <a:ext cx="146319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51444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  <a:r>
              <a:t/>
            </a:r>
          </a:p>
          <a:p>
            <a:pPr indent="-487817" lvl="1" marL="97563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Overview:  Sahay (सहाय) is an AI Welfare Navigator. The user types or speaks freely in Hindi / Hinglish / English — "58 saal, kisan, 1.5 acre, beti ki padhai" — and Sahay returns the top schemes with eligibility, documents required, and how-to-apply links.</a:t>
            </a:r>
          </a:p>
          <a:p>
            <a:pPr indent="-487817" lvl="1" marL="97563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  (1) Bilingual chat + voice input  (2) Signal-extraction engine that catches age, occupation, land-size, life-events from free text  (3) 25 real central-govt schemes (PM-KISAN, Ayushman Bharat, MUDRA, Ujjwala, PMAY, Vishwakarma, SSY, NSAP pensions, e-Shram…)  (4) One-click demo personas — Ramesh, Lakshmi, Priya, Irfan  (5) Animated total-₹-unlocked counter that quantifies the impact live.</a:t>
            </a:r>
          </a:p>
          <a:p>
            <a:pPr indent="-487817" lvl="1" marL="975633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Value:  Most schemes-search tools are keyword forms in English. Sahay is conversational, vernacular-first, and returns a *reasoned* match — every card explains *why* this scheme fits this person.</a:t>
            </a:r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45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t/>
            </a:r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45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-18332" y="-1480484"/>
            <a:ext cx="19973883" cy="3111361"/>
          </a:xfrm>
          <a:custGeom>
            <a:rect b="b" l="l" r="r" t="t"/>
            <a:pathLst>
              <a:path extrusionOk="0" h="4148481" w="24432885">
                <a:moveTo>
                  <a:pt x="0" y="0"/>
                </a:moveTo>
                <a:lnTo>
                  <a:pt x="24432885" y="0"/>
                </a:lnTo>
                <a:lnTo>
                  <a:pt x="24432885" y="4148481"/>
                </a:lnTo>
                <a:lnTo>
                  <a:pt x="0" y="4148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2329" l="0" r="0" t="-59820"/>
            </a:stretch>
          </a:blipFill>
          <a:ln>
            <a:noFill/>
          </a:ln>
        </p:spPr>
      </p:sp>
      <p:sp>
        <p:nvSpPr>
          <p:cNvPr id="123" name="Google Shape;123;p4"/>
          <p:cNvSpPr/>
          <p:nvPr/>
        </p:nvSpPr>
        <p:spPr>
          <a:xfrm>
            <a:off x="377327" y="195791"/>
            <a:ext cx="1141810" cy="1032020"/>
          </a:xfrm>
          <a:custGeom>
            <a:rect b="b" l="l" r="r" t="t"/>
            <a:pathLst>
              <a:path extrusionOk="0" h="1376027" w="1522413">
                <a:moveTo>
                  <a:pt x="0" y="0"/>
                </a:moveTo>
                <a:lnTo>
                  <a:pt x="1522413" y="0"/>
                </a:lnTo>
                <a:lnTo>
                  <a:pt x="1522413" y="1376027"/>
                </a:lnTo>
                <a:lnTo>
                  <a:pt x="0" y="1376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4" name="Google Shape;124;p4"/>
          <p:cNvCxnSpPr/>
          <p:nvPr/>
        </p:nvCxnSpPr>
        <p:spPr>
          <a:xfrm>
            <a:off x="15190575" y="472321"/>
            <a:ext cx="0" cy="479025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4"/>
          <p:cNvSpPr/>
          <p:nvPr/>
        </p:nvSpPr>
        <p:spPr>
          <a:xfrm>
            <a:off x="15337274" y="439948"/>
            <a:ext cx="2699110" cy="543706"/>
          </a:xfrm>
          <a:custGeom>
            <a:rect b="b" l="l" r="r" t="t"/>
            <a:pathLst>
              <a:path extrusionOk="0" h="724941" w="3598813">
                <a:moveTo>
                  <a:pt x="0" y="0"/>
                </a:moveTo>
                <a:lnTo>
                  <a:pt x="3598813" y="0"/>
                </a:lnTo>
                <a:lnTo>
                  <a:pt x="3598813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11281088" y="439948"/>
            <a:ext cx="3762788" cy="543706"/>
          </a:xfrm>
          <a:custGeom>
            <a:rect b="b" l="l" r="r" t="t"/>
            <a:pathLst>
              <a:path extrusionOk="0" h="724941" w="5017050">
                <a:moveTo>
                  <a:pt x="0" y="0"/>
                </a:moveTo>
                <a:lnTo>
                  <a:pt x="5017050" y="0"/>
                </a:lnTo>
                <a:lnTo>
                  <a:pt x="5017050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7" name="Google Shape;127;p4"/>
          <p:cNvGrpSpPr/>
          <p:nvPr/>
        </p:nvGrpSpPr>
        <p:grpSpPr>
          <a:xfrm>
            <a:off x="0" y="9975553"/>
            <a:ext cx="18306333" cy="311446"/>
            <a:chOff x="0" y="-38100"/>
            <a:chExt cx="4821421" cy="82027"/>
          </a:xfrm>
        </p:grpSpPr>
        <p:sp>
          <p:nvSpPr>
            <p:cNvPr id="128" name="Google Shape;128;p4"/>
            <p:cNvSpPr/>
            <p:nvPr/>
          </p:nvSpPr>
          <p:spPr>
            <a:xfrm>
              <a:off x="0" y="0"/>
              <a:ext cx="4821421" cy="43927"/>
            </a:xfrm>
            <a:custGeom>
              <a:rect b="b" l="l" r="r" t="t"/>
              <a:pathLst>
                <a:path extrusionOk="0" h="43927" w="4821421">
                  <a:moveTo>
                    <a:pt x="0" y="0"/>
                  </a:moveTo>
                  <a:lnTo>
                    <a:pt x="4821421" y="0"/>
                  </a:lnTo>
                  <a:lnTo>
                    <a:pt x="4821421" y="43927"/>
                  </a:lnTo>
                  <a:lnTo>
                    <a:pt x="0" y="43927"/>
                  </a:lnTo>
                  <a:close/>
                </a:path>
              </a:pathLst>
            </a:custGeom>
            <a:solidFill>
              <a:srgbClr val="526B32"/>
            </a:solidFill>
            <a:ln>
              <a:noFill/>
            </a:ln>
          </p:spPr>
        </p:sp>
        <p:sp>
          <p:nvSpPr>
            <p:cNvPr id="129" name="Google Shape;129;p4"/>
            <p:cNvSpPr txBox="1"/>
            <p:nvPr/>
          </p:nvSpPr>
          <p:spPr>
            <a:xfrm>
              <a:off x="0" y="-38100"/>
              <a:ext cx="4821421" cy="8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750" lIns="74750" spcFirstLastPara="1" rIns="74750" wrap="square" tIns="74750">
              <a:noAutofit/>
            </a:bodyPr>
            <a:lstStyle/>
            <a:p>
              <a:pPr indent="0" lvl="0" marL="0" marR="0" rtl="0" algn="ctr">
                <a:lnSpc>
                  <a:spcPct val="14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4"/>
          <p:cNvSpPr txBox="1"/>
          <p:nvPr/>
        </p:nvSpPr>
        <p:spPr>
          <a:xfrm>
            <a:off x="-3873009" y="1991006"/>
            <a:ext cx="162306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  <a:r>
              <a:rPr b="0" i="0" lang="en-US" sz="5029" u="none" cap="none" strike="noStrike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Architecture</a:t>
            </a:r>
          </a:p>
        </p:txBody>
      </p:sp>
      <p:sp>
        <p:nvSpPr>
          <p:cNvPr id="131" name="Google Shape;131;p4"/>
          <p:cNvSpPr txBox="1"/>
          <p:nvPr/>
        </p:nvSpPr>
        <p:spPr>
          <a:xfrm>
            <a:off x="2627422" y="3011729"/>
            <a:ext cx="14631900" cy="3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Stack:  Python + Flask backend  •  Vanilla JS / HTML / CSS frontend  •  Claude Haiku 4.5 for AI enrichment  •  JSON scheme corpus (offline-first, zero-DB).</a:t>
            </a:r>
          </a:p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Flow:  User speaks/types in Hindi or English → signal extractor pulls age, occupation, land, life-events → scheme scorer ranks 25 schemes → build_why() attaches plain-language reasons → frontend renders cards + ₹-counter.</a:t>
            </a:r>
          </a:p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APIs:  Anthropic Claude API (Haiku 4.5) for "why this scheme" copy  •  Web Speech API for voice input  •  Internal /api/chat, /api/schemes, /api/personas.</a:t>
            </a:r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45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-18332" y="-1480484"/>
            <a:ext cx="19973883" cy="3111361"/>
          </a:xfrm>
          <a:custGeom>
            <a:rect b="b" l="l" r="r" t="t"/>
            <a:pathLst>
              <a:path extrusionOk="0" h="4148481" w="24432885">
                <a:moveTo>
                  <a:pt x="0" y="0"/>
                </a:moveTo>
                <a:lnTo>
                  <a:pt x="24432885" y="0"/>
                </a:lnTo>
                <a:lnTo>
                  <a:pt x="24432885" y="4148481"/>
                </a:lnTo>
                <a:lnTo>
                  <a:pt x="0" y="4148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2329" l="0" r="0" t="-59820"/>
            </a:stretch>
          </a:blipFill>
          <a:ln>
            <a:noFill/>
          </a:ln>
        </p:spPr>
      </p:sp>
      <p:sp>
        <p:nvSpPr>
          <p:cNvPr id="137" name="Google Shape;137;p5"/>
          <p:cNvSpPr/>
          <p:nvPr/>
        </p:nvSpPr>
        <p:spPr>
          <a:xfrm>
            <a:off x="377327" y="195791"/>
            <a:ext cx="1141810" cy="1032020"/>
          </a:xfrm>
          <a:custGeom>
            <a:rect b="b" l="l" r="r" t="t"/>
            <a:pathLst>
              <a:path extrusionOk="0" h="1376027" w="1522413">
                <a:moveTo>
                  <a:pt x="0" y="0"/>
                </a:moveTo>
                <a:lnTo>
                  <a:pt x="1522413" y="0"/>
                </a:lnTo>
                <a:lnTo>
                  <a:pt x="1522413" y="1376027"/>
                </a:lnTo>
                <a:lnTo>
                  <a:pt x="0" y="1376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8" name="Google Shape;138;p5"/>
          <p:cNvCxnSpPr/>
          <p:nvPr/>
        </p:nvCxnSpPr>
        <p:spPr>
          <a:xfrm>
            <a:off x="15190575" y="472321"/>
            <a:ext cx="0" cy="479025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5"/>
          <p:cNvSpPr/>
          <p:nvPr/>
        </p:nvSpPr>
        <p:spPr>
          <a:xfrm>
            <a:off x="15337274" y="439948"/>
            <a:ext cx="2699110" cy="543706"/>
          </a:xfrm>
          <a:custGeom>
            <a:rect b="b" l="l" r="r" t="t"/>
            <a:pathLst>
              <a:path extrusionOk="0" h="724941" w="3598813">
                <a:moveTo>
                  <a:pt x="0" y="0"/>
                </a:moveTo>
                <a:lnTo>
                  <a:pt x="3598813" y="0"/>
                </a:lnTo>
                <a:lnTo>
                  <a:pt x="3598813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>
            <a:off x="11281088" y="439948"/>
            <a:ext cx="3762788" cy="543706"/>
          </a:xfrm>
          <a:custGeom>
            <a:rect b="b" l="l" r="r" t="t"/>
            <a:pathLst>
              <a:path extrusionOk="0" h="724941" w="5017050">
                <a:moveTo>
                  <a:pt x="0" y="0"/>
                </a:moveTo>
                <a:lnTo>
                  <a:pt x="5017050" y="0"/>
                </a:lnTo>
                <a:lnTo>
                  <a:pt x="5017050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1" name="Google Shape;141;p5"/>
          <p:cNvGrpSpPr/>
          <p:nvPr/>
        </p:nvGrpSpPr>
        <p:grpSpPr>
          <a:xfrm>
            <a:off x="0" y="9975553"/>
            <a:ext cx="18306333" cy="311446"/>
            <a:chOff x="0" y="-38100"/>
            <a:chExt cx="4821421" cy="82027"/>
          </a:xfrm>
        </p:grpSpPr>
        <p:sp>
          <p:nvSpPr>
            <p:cNvPr id="142" name="Google Shape;142;p5"/>
            <p:cNvSpPr/>
            <p:nvPr/>
          </p:nvSpPr>
          <p:spPr>
            <a:xfrm>
              <a:off x="0" y="0"/>
              <a:ext cx="4821421" cy="43927"/>
            </a:xfrm>
            <a:custGeom>
              <a:rect b="b" l="l" r="r" t="t"/>
              <a:pathLst>
                <a:path extrusionOk="0" h="43927" w="4821421">
                  <a:moveTo>
                    <a:pt x="0" y="0"/>
                  </a:moveTo>
                  <a:lnTo>
                    <a:pt x="4821421" y="0"/>
                  </a:lnTo>
                  <a:lnTo>
                    <a:pt x="4821421" y="43927"/>
                  </a:lnTo>
                  <a:lnTo>
                    <a:pt x="0" y="43927"/>
                  </a:lnTo>
                  <a:close/>
                </a:path>
              </a:pathLst>
            </a:custGeom>
            <a:solidFill>
              <a:srgbClr val="526B32"/>
            </a:solidFill>
            <a:ln>
              <a:noFill/>
            </a:ln>
          </p:spPr>
        </p:sp>
        <p:sp>
          <p:nvSpPr>
            <p:cNvPr id="143" name="Google Shape;143;p5"/>
            <p:cNvSpPr txBox="1"/>
            <p:nvPr/>
          </p:nvSpPr>
          <p:spPr>
            <a:xfrm>
              <a:off x="0" y="-38100"/>
              <a:ext cx="4821421" cy="8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750" lIns="74750" spcFirstLastPara="1" rIns="74750" wrap="square" tIns="74750">
              <a:noAutofit/>
            </a:bodyPr>
            <a:lstStyle/>
            <a:p>
              <a:pPr indent="0" lvl="0" marL="0" marR="0" rtl="0" algn="ctr">
                <a:lnSpc>
                  <a:spcPct val="14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5"/>
          <p:cNvSpPr txBox="1"/>
          <p:nvPr/>
        </p:nvSpPr>
        <p:spPr>
          <a:xfrm>
            <a:off x="96645" y="2145468"/>
            <a:ext cx="162306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  <a:r>
              <a:rPr b="0" i="0" lang="en-US" sz="5029" u="none" cap="none" strike="noStrike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Market Research &amp; Analysis</a:t>
            </a:r>
          </a:p>
        </p:txBody>
      </p:sp>
      <p:sp>
        <p:nvSpPr>
          <p:cNvPr id="145" name="Google Shape;145;p5"/>
          <p:cNvSpPr txBox="1"/>
          <p:nvPr/>
        </p:nvSpPr>
        <p:spPr>
          <a:xfrm>
            <a:off x="1669327" y="2835201"/>
            <a:ext cx="14631900" cy="45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Users:  ~800M citizens of Bharat — farmers, widows, senior citizens, gig &amp; platform workers, MSME artisans, students from low-income families. Primary entry point: rural &amp; tier-2/3 smartphones via WhatsApp-style chat or voice.</a:t>
            </a:r>
          </a:p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Size:  3,000+ central + state schemes  •  ₹15+ lakh crore total annual welfare outlay  •  ~70% leakage / under-claim gap = ₹10+ lakh crore worth of unclaimed benefits sitting on the table every year.</a:t>
            </a:r>
          </a:p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 Model:  (1) Govt / state-mission licensing (white-label for Common Service Centres, Panchayats)  (2) CSR + foundation grants tied to claim-conversion metrics  (3) NBFC / fintech partnerships — qualified-lead handoff for MUDRA, Stand-Up India, KCC loans.</a:t>
            </a:r>
          </a:p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Growth:  Pilot in 1 state via CSC network → 10M users in 12 months → scale to all 22 official languages and 250K Common Service Centres → measurable lift in scheme-claim rate is the north-star metric.</a:t>
            </a:r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45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-18332" y="-1442384"/>
            <a:ext cx="19973883" cy="3111361"/>
          </a:xfrm>
          <a:custGeom>
            <a:rect b="b" l="l" r="r" t="t"/>
            <a:pathLst>
              <a:path extrusionOk="0" h="4148481" w="24432885">
                <a:moveTo>
                  <a:pt x="0" y="0"/>
                </a:moveTo>
                <a:lnTo>
                  <a:pt x="24432885" y="0"/>
                </a:lnTo>
                <a:lnTo>
                  <a:pt x="24432885" y="4148481"/>
                </a:lnTo>
                <a:lnTo>
                  <a:pt x="0" y="4148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2329" l="0" r="0" t="-59820"/>
            </a:stretch>
          </a:blipFill>
          <a:ln>
            <a:noFill/>
          </a:ln>
        </p:spPr>
      </p:sp>
      <p:sp>
        <p:nvSpPr>
          <p:cNvPr id="151" name="Google Shape;151;p6"/>
          <p:cNvSpPr/>
          <p:nvPr/>
        </p:nvSpPr>
        <p:spPr>
          <a:xfrm>
            <a:off x="377327" y="195791"/>
            <a:ext cx="1141810" cy="1032020"/>
          </a:xfrm>
          <a:custGeom>
            <a:rect b="b" l="l" r="r" t="t"/>
            <a:pathLst>
              <a:path extrusionOk="0" h="1376027" w="1522413">
                <a:moveTo>
                  <a:pt x="0" y="0"/>
                </a:moveTo>
                <a:lnTo>
                  <a:pt x="1522413" y="0"/>
                </a:lnTo>
                <a:lnTo>
                  <a:pt x="1522413" y="1376027"/>
                </a:lnTo>
                <a:lnTo>
                  <a:pt x="0" y="1376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2" name="Google Shape;152;p6"/>
          <p:cNvCxnSpPr/>
          <p:nvPr/>
        </p:nvCxnSpPr>
        <p:spPr>
          <a:xfrm>
            <a:off x="15190575" y="472321"/>
            <a:ext cx="0" cy="478960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6"/>
          <p:cNvSpPr/>
          <p:nvPr/>
        </p:nvSpPr>
        <p:spPr>
          <a:xfrm>
            <a:off x="15337274" y="439948"/>
            <a:ext cx="2699110" cy="543706"/>
          </a:xfrm>
          <a:custGeom>
            <a:rect b="b" l="l" r="r" t="t"/>
            <a:pathLst>
              <a:path extrusionOk="0" h="724941" w="3598813">
                <a:moveTo>
                  <a:pt x="0" y="0"/>
                </a:moveTo>
                <a:lnTo>
                  <a:pt x="3598813" y="0"/>
                </a:lnTo>
                <a:lnTo>
                  <a:pt x="3598813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/>
          <p:nvPr/>
        </p:nvSpPr>
        <p:spPr>
          <a:xfrm>
            <a:off x="11281088" y="439948"/>
            <a:ext cx="3762788" cy="543706"/>
          </a:xfrm>
          <a:custGeom>
            <a:rect b="b" l="l" r="r" t="t"/>
            <a:pathLst>
              <a:path extrusionOk="0" h="724941" w="5017050">
                <a:moveTo>
                  <a:pt x="0" y="0"/>
                </a:moveTo>
                <a:lnTo>
                  <a:pt x="5017050" y="0"/>
                </a:lnTo>
                <a:lnTo>
                  <a:pt x="5017050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5" name="Google Shape;155;p6"/>
          <p:cNvGrpSpPr/>
          <p:nvPr/>
        </p:nvGrpSpPr>
        <p:grpSpPr>
          <a:xfrm>
            <a:off x="0" y="9975552"/>
            <a:ext cx="18306332" cy="311447"/>
            <a:chOff x="0" y="-38100"/>
            <a:chExt cx="4821421" cy="82027"/>
          </a:xfrm>
        </p:grpSpPr>
        <p:sp>
          <p:nvSpPr>
            <p:cNvPr id="156" name="Google Shape;156;p6"/>
            <p:cNvSpPr/>
            <p:nvPr/>
          </p:nvSpPr>
          <p:spPr>
            <a:xfrm>
              <a:off x="0" y="0"/>
              <a:ext cx="4821421" cy="43927"/>
            </a:xfrm>
            <a:custGeom>
              <a:rect b="b" l="l" r="r" t="t"/>
              <a:pathLst>
                <a:path extrusionOk="0" h="43927" w="4821421">
                  <a:moveTo>
                    <a:pt x="0" y="0"/>
                  </a:moveTo>
                  <a:lnTo>
                    <a:pt x="4821421" y="0"/>
                  </a:lnTo>
                  <a:lnTo>
                    <a:pt x="4821421" y="43927"/>
                  </a:lnTo>
                  <a:lnTo>
                    <a:pt x="0" y="43927"/>
                  </a:lnTo>
                  <a:close/>
                </a:path>
              </a:pathLst>
            </a:custGeom>
            <a:solidFill>
              <a:srgbClr val="526B32"/>
            </a:solidFill>
            <a:ln>
              <a:noFill/>
            </a:ln>
          </p:spPr>
        </p:sp>
        <p:sp>
          <p:nvSpPr>
            <p:cNvPr id="157" name="Google Shape;157;p6"/>
            <p:cNvSpPr txBox="1"/>
            <p:nvPr/>
          </p:nvSpPr>
          <p:spPr>
            <a:xfrm>
              <a:off x="0" y="-38100"/>
              <a:ext cx="4821421" cy="8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750" lIns="74750" spcFirstLastPara="1" rIns="74750" wrap="square" tIns="74750">
              <a:noAutofit/>
            </a:bodyPr>
            <a:lstStyle/>
            <a:p>
              <a:pPr indent="0" lvl="0" marL="0" marR="0" rtl="0" algn="ctr">
                <a:lnSpc>
                  <a:spcPct val="14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6"/>
          <p:cNvSpPr txBox="1"/>
          <p:nvPr/>
        </p:nvSpPr>
        <p:spPr>
          <a:xfrm>
            <a:off x="-3933845" y="1931155"/>
            <a:ext cx="162306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  <a:r>
              <a:rPr b="0" i="0" lang="en-US" sz="5029" u="none" cap="none" strike="noStrike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Future Scope</a:t>
            </a:r>
          </a:p>
        </p:txBody>
      </p:sp>
      <p:sp>
        <p:nvSpPr>
          <p:cNvPr id="159" name="Google Shape;159;p6"/>
          <p:cNvSpPr txBox="1"/>
          <p:nvPr/>
        </p:nvSpPr>
        <p:spPr>
          <a:xfrm>
            <a:off x="1960755" y="3049513"/>
            <a:ext cx="14631900" cy="45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WhatsApp &amp; IVR Channels:  Meet Bharat where it already is — Sahay over WhatsApp Business API + a toll-free IVR for feature-phone users with no smartphone.</a:t>
            </a:r>
          </a:p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22-Language Coverage:  Extend signal-map and scheme copy to all 8th-Schedule languages — Marathi, Tamil, Telugu, Bengali, Punjabi, Odia, Assamese, Kannada, Malayalam, Gujarati, and more.</a:t>
            </a:r>
          </a:p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Document-Auto-Fill &amp; Application Tracking:  OCR Aadhaar/ration card → pre-fill scheme forms → submit to UMANG/state portals → track application status end-to-end inside Sahay.</a:t>
            </a:r>
          </a:p>
          <a:p>
            <a:pPr indent="-487817" lvl="1" marL="975634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18"/>
              <a:buFont typeface="Arial"/>
              <a:buChar char="•"/>
            </a:pPr>
            <a:endParaRPr/>
            <a:r>
              <a:rPr b="1" i="0" lang="en-US" sz="45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State-Scheme + Private-Welfare Expansion:  Grow from 25 central schemes to 3,000+ central + state + corporate-CSR schemes, with eligibility rules versioned per state.</a:t>
            </a:r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451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t>Impact Dashboards for Govt Partners:  Live dashboards for Ministries / NITI Aayog showing district-level claim-rate uplift, scheme demand heatmaps, and unmet-need signals.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-18332" y="-1480484"/>
            <a:ext cx="19973883" cy="3111361"/>
          </a:xfrm>
          <a:custGeom>
            <a:rect b="b" l="l" r="r" t="t"/>
            <a:pathLst>
              <a:path extrusionOk="0" h="4148481" w="24432885">
                <a:moveTo>
                  <a:pt x="0" y="0"/>
                </a:moveTo>
                <a:lnTo>
                  <a:pt x="24432885" y="0"/>
                </a:lnTo>
                <a:lnTo>
                  <a:pt x="24432885" y="4148481"/>
                </a:lnTo>
                <a:lnTo>
                  <a:pt x="0" y="4148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2329" l="0" r="0" t="-59820"/>
            </a:stretch>
          </a:blipFill>
          <a:ln>
            <a:noFill/>
          </a:ln>
        </p:spPr>
      </p:sp>
      <p:sp>
        <p:nvSpPr>
          <p:cNvPr id="165" name="Google Shape;165;p7"/>
          <p:cNvSpPr/>
          <p:nvPr/>
        </p:nvSpPr>
        <p:spPr>
          <a:xfrm>
            <a:off x="377327" y="195791"/>
            <a:ext cx="1141810" cy="1032020"/>
          </a:xfrm>
          <a:custGeom>
            <a:rect b="b" l="l" r="r" t="t"/>
            <a:pathLst>
              <a:path extrusionOk="0" h="1376027" w="1522413">
                <a:moveTo>
                  <a:pt x="0" y="0"/>
                </a:moveTo>
                <a:lnTo>
                  <a:pt x="1522413" y="0"/>
                </a:lnTo>
                <a:lnTo>
                  <a:pt x="1522413" y="1376027"/>
                </a:lnTo>
                <a:lnTo>
                  <a:pt x="0" y="1376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66" name="Google Shape;166;p7"/>
          <p:cNvCxnSpPr/>
          <p:nvPr/>
        </p:nvCxnSpPr>
        <p:spPr>
          <a:xfrm>
            <a:off x="15190575" y="472321"/>
            <a:ext cx="0" cy="479100"/>
          </a:xfrm>
          <a:prstGeom prst="straightConnector1">
            <a:avLst/>
          </a:prstGeom>
          <a:noFill/>
          <a:ln cap="flat" cmpd="sng" w="34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7"/>
          <p:cNvSpPr/>
          <p:nvPr/>
        </p:nvSpPr>
        <p:spPr>
          <a:xfrm>
            <a:off x="15337274" y="439948"/>
            <a:ext cx="2699110" cy="543706"/>
          </a:xfrm>
          <a:custGeom>
            <a:rect b="b" l="l" r="r" t="t"/>
            <a:pathLst>
              <a:path extrusionOk="0" h="724941" w="3598813">
                <a:moveTo>
                  <a:pt x="0" y="0"/>
                </a:moveTo>
                <a:lnTo>
                  <a:pt x="3598813" y="0"/>
                </a:lnTo>
                <a:lnTo>
                  <a:pt x="3598813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7"/>
          <p:cNvSpPr/>
          <p:nvPr/>
        </p:nvSpPr>
        <p:spPr>
          <a:xfrm>
            <a:off x="11281088" y="439948"/>
            <a:ext cx="3762787" cy="543706"/>
          </a:xfrm>
          <a:custGeom>
            <a:rect b="b" l="l" r="r" t="t"/>
            <a:pathLst>
              <a:path extrusionOk="0" h="724941" w="5017050">
                <a:moveTo>
                  <a:pt x="0" y="0"/>
                </a:moveTo>
                <a:lnTo>
                  <a:pt x="5017050" y="0"/>
                </a:lnTo>
                <a:lnTo>
                  <a:pt x="5017050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9" name="Google Shape;169;p7"/>
          <p:cNvGrpSpPr/>
          <p:nvPr/>
        </p:nvGrpSpPr>
        <p:grpSpPr>
          <a:xfrm>
            <a:off x="0" y="9975552"/>
            <a:ext cx="18306453" cy="311448"/>
            <a:chOff x="0" y="-38100"/>
            <a:chExt cx="4821421" cy="82027"/>
          </a:xfrm>
        </p:grpSpPr>
        <p:sp>
          <p:nvSpPr>
            <p:cNvPr id="170" name="Google Shape;170;p7"/>
            <p:cNvSpPr/>
            <p:nvPr/>
          </p:nvSpPr>
          <p:spPr>
            <a:xfrm>
              <a:off x="0" y="0"/>
              <a:ext cx="4821421" cy="43927"/>
            </a:xfrm>
            <a:custGeom>
              <a:rect b="b" l="l" r="r" t="t"/>
              <a:pathLst>
                <a:path extrusionOk="0" h="43927" w="4821421">
                  <a:moveTo>
                    <a:pt x="0" y="0"/>
                  </a:moveTo>
                  <a:lnTo>
                    <a:pt x="4821421" y="0"/>
                  </a:lnTo>
                  <a:lnTo>
                    <a:pt x="4821421" y="43927"/>
                  </a:lnTo>
                  <a:lnTo>
                    <a:pt x="0" y="43927"/>
                  </a:lnTo>
                  <a:close/>
                </a:path>
              </a:pathLst>
            </a:custGeom>
            <a:solidFill>
              <a:srgbClr val="526B32"/>
            </a:solidFill>
            <a:ln>
              <a:noFill/>
            </a:ln>
          </p:spPr>
        </p:sp>
        <p:sp>
          <p:nvSpPr>
            <p:cNvPr id="171" name="Google Shape;171;p7"/>
            <p:cNvSpPr txBox="1"/>
            <p:nvPr/>
          </p:nvSpPr>
          <p:spPr>
            <a:xfrm>
              <a:off x="0" y="-38100"/>
              <a:ext cx="4821421" cy="8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750" lIns="74750" spcFirstLastPara="1" rIns="74750" wrap="square" tIns="74750">
              <a:noAutofit/>
            </a:bodyPr>
            <a:lstStyle/>
            <a:p>
              <a:pPr indent="0" lvl="0" marL="0" marR="0" rtl="0" algn="ctr">
                <a:lnSpc>
                  <a:spcPct val="14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7"/>
          <p:cNvSpPr txBox="1"/>
          <p:nvPr/>
        </p:nvSpPr>
        <p:spPr>
          <a:xfrm>
            <a:off x="-260861" y="2028552"/>
            <a:ext cx="162306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  <a:r>
              <a:rPr b="0" i="0" lang="en-US" sz="5029" u="none" cap="none" strike="noStrike">
                <a:solidFill>
                  <a:srgbClr val="000000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TRAE Account Upholding</a:t>
            </a:r>
          </a:p>
        </p:txBody>
      </p:sp>
      <p:sp>
        <p:nvSpPr>
          <p:cNvPr id="173" name="Google Shape;173;p7"/>
          <p:cNvSpPr txBox="1"/>
          <p:nvPr/>
        </p:nvSpPr>
        <p:spPr>
          <a:xfrm>
            <a:off x="1028700" y="2935104"/>
            <a:ext cx="166443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4400" lvl="1" marL="74879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8"/>
              <a:buFont typeface="Arial"/>
              <a:buChar char="•"/>
            </a:pPr>
            <a:endParaRPr/>
            <a:r>
              <a:rPr b="1" i="0" lang="en-US" sz="34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Screenshot of TRAE dashboard for each teammate — to be added before submission.</a:t>
            </a:r>
          </a:p>
          <a:p>
            <a:pPr indent="-374400" lvl="1" marL="74879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8"/>
              <a:buFont typeface="Arial"/>
              <a:buChar char="•"/>
            </a:pPr>
            <a:endParaRPr/>
            <a:r>
              <a:rPr b="1" i="0" lang="en-US" sz="34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Username visible in every screenshot.</a:t>
            </a:r>
          </a:p>
          <a:p>
            <a:pPr indent="-374400" lvl="1" marL="74879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8"/>
              <a:buFont typeface="Arial"/>
              <a:buChar char="•"/>
            </a:pPr>
            <a:endParaRPr/>
            <a:r>
              <a:rPr b="1" i="0" lang="en-US" sz="34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Proof of participation for all teammates attached on this slide.</a:t>
            </a:r>
          </a:p>
          <a:p>
            <a:pPr indent="-374400" lvl="1" marL="74879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8"/>
              <a:buFont typeface="Arial"/>
              <a:buChar char="•"/>
            </a:pPr>
            <a:endParaRPr/>
            <a:r>
              <a:rPr b="1" i="0" lang="en-US" sz="346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Placeholder: insert screenshots in the image area below.</a:t>
            </a: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i="0" sz="3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  <a:r>
              <a:t/>
            </a:r>
          </a:p>
        </p:txBody>
      </p:sp>
      <p:sp>
        <p:nvSpPr>
          <p:cNvPr id="174" name="Google Shape;174;p7"/>
          <p:cNvSpPr/>
          <p:nvPr/>
        </p:nvSpPr>
        <p:spPr>
          <a:xfrm>
            <a:off x="4255530" y="5334000"/>
            <a:ext cx="9156494" cy="4262062"/>
          </a:xfrm>
          <a:custGeom>
            <a:rect b="b" l="l" r="r" t="t"/>
            <a:pathLst>
              <a:path extrusionOk="0" h="4262062" w="9156494">
                <a:moveTo>
                  <a:pt x="0" y="0"/>
                </a:moveTo>
                <a:lnTo>
                  <a:pt x="9156494" y="0"/>
                </a:lnTo>
                <a:lnTo>
                  <a:pt x="9156494" y="4262062"/>
                </a:lnTo>
                <a:lnTo>
                  <a:pt x="0" y="4262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8706" l="0" r="-1825" t="-14345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8"/>
          <p:cNvGrpSpPr/>
          <p:nvPr/>
        </p:nvGrpSpPr>
        <p:grpSpPr>
          <a:xfrm>
            <a:off x="0" y="9975552"/>
            <a:ext cx="18306332" cy="311448"/>
            <a:chOff x="0" y="-38100"/>
            <a:chExt cx="4821421" cy="82027"/>
          </a:xfrm>
        </p:grpSpPr>
        <p:sp>
          <p:nvSpPr>
            <p:cNvPr id="180" name="Google Shape;180;p8"/>
            <p:cNvSpPr/>
            <p:nvPr/>
          </p:nvSpPr>
          <p:spPr>
            <a:xfrm>
              <a:off x="0" y="0"/>
              <a:ext cx="4821421" cy="43927"/>
            </a:xfrm>
            <a:custGeom>
              <a:rect b="b" l="l" r="r" t="t"/>
              <a:pathLst>
                <a:path extrusionOk="0" h="43927" w="4821421">
                  <a:moveTo>
                    <a:pt x="0" y="0"/>
                  </a:moveTo>
                  <a:lnTo>
                    <a:pt x="4821421" y="0"/>
                  </a:lnTo>
                  <a:lnTo>
                    <a:pt x="4821421" y="43927"/>
                  </a:lnTo>
                  <a:lnTo>
                    <a:pt x="0" y="43927"/>
                  </a:lnTo>
                  <a:close/>
                </a:path>
              </a:pathLst>
            </a:custGeom>
            <a:solidFill>
              <a:srgbClr val="526B32"/>
            </a:solidFill>
            <a:ln>
              <a:noFill/>
            </a:ln>
          </p:spPr>
        </p:sp>
        <p:sp>
          <p:nvSpPr>
            <p:cNvPr id="181" name="Google Shape;181;p8"/>
            <p:cNvSpPr txBox="1"/>
            <p:nvPr/>
          </p:nvSpPr>
          <p:spPr>
            <a:xfrm>
              <a:off x="0" y="-38100"/>
              <a:ext cx="4821421" cy="82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8"/>
          <p:cNvSpPr txBox="1"/>
          <p:nvPr/>
        </p:nvSpPr>
        <p:spPr>
          <a:xfrm rot="-348031">
            <a:off x="1851325" y="6407999"/>
            <a:ext cx="9109945" cy="1842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758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</a:t>
            </a:r>
            <a:endParaRPr sz="122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6330401" y="7723092"/>
            <a:ext cx="88173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566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you!</a:t>
            </a:r>
            <a:endParaRPr sz="122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0" y="-846167"/>
            <a:ext cx="18324664" cy="5989667"/>
          </a:xfrm>
          <a:custGeom>
            <a:rect b="b" l="l" r="r" t="t"/>
            <a:pathLst>
              <a:path extrusionOk="0" h="5989667" w="18324664">
                <a:moveTo>
                  <a:pt x="0" y="0"/>
                </a:moveTo>
                <a:lnTo>
                  <a:pt x="18324664" y="0"/>
                </a:lnTo>
                <a:lnTo>
                  <a:pt x="18324664" y="5989667"/>
                </a:lnTo>
                <a:lnTo>
                  <a:pt x="0" y="5989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1074" l="0" r="0" t="-31074"/>
            </a:stretch>
          </a:blipFill>
          <a:ln>
            <a:noFill/>
          </a:ln>
        </p:spPr>
      </p:sp>
      <p:sp>
        <p:nvSpPr>
          <p:cNvPr id="185" name="Google Shape;185;p8"/>
          <p:cNvSpPr/>
          <p:nvPr/>
        </p:nvSpPr>
        <p:spPr>
          <a:xfrm>
            <a:off x="7532967" y="1028700"/>
            <a:ext cx="4042249" cy="3653572"/>
          </a:xfrm>
          <a:custGeom>
            <a:rect b="b" l="l" r="r" t="t"/>
            <a:pathLst>
              <a:path extrusionOk="0" h="3653572" w="4042249">
                <a:moveTo>
                  <a:pt x="0" y="0"/>
                </a:moveTo>
                <a:lnTo>
                  <a:pt x="4042249" y="0"/>
                </a:lnTo>
                <a:lnTo>
                  <a:pt x="4042249" y="3653572"/>
                </a:lnTo>
                <a:lnTo>
                  <a:pt x="0" y="3653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8"/>
          <p:cNvSpPr/>
          <p:nvPr/>
        </p:nvSpPr>
        <p:spPr>
          <a:xfrm>
            <a:off x="13842818" y="628650"/>
            <a:ext cx="3971925" cy="800100"/>
          </a:xfrm>
          <a:custGeom>
            <a:rect b="b" l="l" r="r" t="t"/>
            <a:pathLst>
              <a:path extrusionOk="0" h="800100" w="3971925">
                <a:moveTo>
                  <a:pt x="0" y="0"/>
                </a:moveTo>
                <a:lnTo>
                  <a:pt x="3971925" y="0"/>
                </a:lnTo>
                <a:lnTo>
                  <a:pt x="3971925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8"/>
          <p:cNvSpPr/>
          <p:nvPr/>
        </p:nvSpPr>
        <p:spPr>
          <a:xfrm>
            <a:off x="479455" y="628650"/>
            <a:ext cx="5537200" cy="800100"/>
          </a:xfrm>
          <a:custGeom>
            <a:rect b="b" l="l" r="r" t="t"/>
            <a:pathLst>
              <a:path extrusionOk="0" h="800100" w="5537200">
                <a:moveTo>
                  <a:pt x="0" y="0"/>
                </a:moveTo>
                <a:lnTo>
                  <a:pt x="5537200" y="0"/>
                </a:lnTo>
                <a:lnTo>
                  <a:pt x="55372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